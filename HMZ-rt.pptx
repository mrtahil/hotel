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7" r:id="rId21"/>
    <p:sldId id="275" r:id="rId22"/>
    <p:sldId id="276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70853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27516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03101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18098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915076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31828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384882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059160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655996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397352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88894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794569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86718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085259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60796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836464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314671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AD065F-33F5-4BC0-A702-6BC5BD3D3131}" type="datetimeFigureOut">
              <a:rPr lang="hu-HU" smtClean="0"/>
              <a:t>2025. 05. 22.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E041AB-77D6-4BEF-B138-BAD81B3CA6D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6559549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39459E-34E2-698C-8743-F6EB9A604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00425" y="2052734"/>
            <a:ext cx="8791575" cy="2387600"/>
          </a:xfrm>
        </p:spPr>
        <p:txBody>
          <a:bodyPr>
            <a:normAutofit/>
          </a:bodyPr>
          <a:lstStyle/>
          <a:p>
            <a:r>
              <a:rPr lang="hu-HU" dirty="0"/>
              <a:t>HMZ-</a:t>
            </a:r>
            <a:r>
              <a:rPr lang="hu-HU" dirty="0" err="1"/>
              <a:t>rt</a:t>
            </a:r>
            <a:r>
              <a:rPr lang="hu-HU" dirty="0"/>
              <a:t/>
            </a:r>
            <a:br>
              <a:rPr lang="hu-HU" dirty="0"/>
            </a:br>
            <a:r>
              <a:rPr lang="hu-HU" dirty="0"/>
              <a:t>Foglalj okosan, kezelj könnyedén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DF0E09F-EE41-63D4-6CE3-DE06B100E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5249" y="5958018"/>
            <a:ext cx="8791575" cy="1655762"/>
          </a:xfrm>
        </p:spPr>
        <p:txBody>
          <a:bodyPr/>
          <a:lstStyle/>
          <a:p>
            <a:r>
              <a:rPr lang="hu-HU" dirty="0" err="1"/>
              <a:t>Hilóczki</a:t>
            </a:r>
            <a:r>
              <a:rPr lang="hu-HU" dirty="0"/>
              <a:t> Tamás; Monostori Róbert; Zelenák Zalán Noel</a:t>
            </a:r>
          </a:p>
          <a:p>
            <a:r>
              <a:rPr lang="hu-HU" dirty="0"/>
              <a:t>					            2025.05.23.</a:t>
            </a:r>
          </a:p>
        </p:txBody>
      </p:sp>
    </p:spTree>
    <p:extLst>
      <p:ext uri="{BB962C8B-B14F-4D97-AF65-F5344CB8AC3E}">
        <p14:creationId xmlns:p14="http://schemas.microsoft.com/office/powerpoint/2010/main" val="16742348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95868C5-A6B9-C675-F235-3919FB4F2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Projekt célja / motiváció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EE96F5C-C231-FAD9-D77D-AEEB97E28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Cél: </a:t>
            </a:r>
          </a:p>
          <a:p>
            <a:pPr lvl="1"/>
            <a:r>
              <a:rPr lang="hu-HU" dirty="0"/>
              <a:t>Felhasználóbarát hotelmenedzsment szoftver létrehozása</a:t>
            </a:r>
          </a:p>
          <a:p>
            <a:r>
              <a:rPr lang="hu-HU" dirty="0"/>
              <a:t>Motiváció:</a:t>
            </a:r>
          </a:p>
          <a:p>
            <a:pPr lvl="1"/>
            <a:r>
              <a:rPr lang="hu-HU" dirty="0"/>
              <a:t>Manuális folyamatok automatizálása, hatékonyság növelése</a:t>
            </a:r>
          </a:p>
          <a:p>
            <a:r>
              <a:rPr lang="hu-HU" dirty="0"/>
              <a:t>Célközönség:</a:t>
            </a:r>
          </a:p>
          <a:p>
            <a:pPr lvl="1"/>
            <a:r>
              <a:rPr lang="hu-HU" dirty="0"/>
              <a:t>Kicsik és nagyok egyaránt, a lényeg a könnyű és érthető kezelhetőség</a:t>
            </a:r>
          </a:p>
        </p:txBody>
      </p:sp>
    </p:spTree>
    <p:extLst>
      <p:ext uri="{BB962C8B-B14F-4D97-AF65-F5344CB8AC3E}">
        <p14:creationId xmlns:p14="http://schemas.microsoft.com/office/powerpoint/2010/main" val="163809210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665C5D-32EB-E692-4248-B7B3278EA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Rendszer Felépítése és Architektúrája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2EF4061-FE8F-01F4-9216-A7D824D241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/>
              <a:t>A hotel foglalási és kezelési </a:t>
            </a:r>
            <a:r>
              <a:rPr lang="hu-HU" dirty="0" smtClean="0"/>
              <a:t>rendszere </a:t>
            </a:r>
            <a:r>
              <a:rPr lang="hu-HU" dirty="0"/>
              <a:t>négy fő komponensből épül fel:</a:t>
            </a:r>
          </a:p>
          <a:p>
            <a:pPr lvl="1"/>
            <a:r>
              <a:rPr lang="hu-HU" b="1" dirty="0"/>
              <a:t>Backend</a:t>
            </a:r>
            <a:r>
              <a:rPr lang="hu-HU" dirty="0"/>
              <a:t> – C# és .NET alapú szerveroldali logika</a:t>
            </a:r>
          </a:p>
          <a:p>
            <a:pPr lvl="1"/>
            <a:r>
              <a:rPr lang="hu-HU" b="1" dirty="0"/>
              <a:t>Webes felület (Web UI)</a:t>
            </a:r>
            <a:r>
              <a:rPr lang="hu-HU" dirty="0"/>
              <a:t> – React / Tailwind technológiával </a:t>
            </a:r>
          </a:p>
          <a:p>
            <a:pPr lvl="1"/>
            <a:r>
              <a:rPr lang="hu-HU" b="1" dirty="0"/>
              <a:t>Asztali alkalmazás </a:t>
            </a:r>
            <a:r>
              <a:rPr lang="hu-HU" dirty="0"/>
              <a:t>WPF-re épülő natív Windows-alkalmazás</a:t>
            </a:r>
          </a:p>
          <a:p>
            <a:pPr lvl="1"/>
            <a:r>
              <a:rPr lang="hu-HU" b="1" dirty="0" smtClean="0"/>
              <a:t>Adatbázis</a:t>
            </a:r>
            <a:r>
              <a:rPr lang="hu-HU" dirty="0" smtClean="0"/>
              <a:t> </a:t>
            </a:r>
            <a:r>
              <a:rPr lang="hu-HU" dirty="0"/>
              <a:t>– SQL Server</a:t>
            </a:r>
          </a:p>
          <a:p>
            <a:r>
              <a:rPr lang="hu-HU" dirty="0"/>
              <a:t>A komponensek együttműködése biztosítja az adatok megbízható kezelését, a felhasználói élmény rugalmasságát és a skálázható üzemeltetést.</a:t>
            </a:r>
          </a:p>
        </p:txBody>
      </p:sp>
    </p:spTree>
    <p:extLst>
      <p:ext uri="{BB962C8B-B14F-4D97-AF65-F5344CB8AC3E}">
        <p14:creationId xmlns:p14="http://schemas.microsoft.com/office/powerpoint/2010/main" val="35028971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89C3F2-A788-E517-7697-FAD967D0B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/>
          <a:lstStyle/>
          <a:p>
            <a:r>
              <a:rPr lang="hu-HU" dirty="0"/>
              <a:t>Backend C# és ASP.NET Core alapokon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0CA8B5A-9646-5AE2-9879-F5B7D1339D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3541714"/>
          </a:xfrm>
        </p:spPr>
        <p:txBody>
          <a:bodyPr/>
          <a:lstStyle/>
          <a:p>
            <a:r>
              <a:rPr lang="hu-HU" dirty="0"/>
              <a:t>Microservice alapú szerkezet</a:t>
            </a:r>
          </a:p>
          <a:p>
            <a:pPr lvl="1"/>
            <a:r>
              <a:rPr lang="hu-HU" dirty="0"/>
              <a:t>Külön szolgáltatásokra bontott funkciók</a:t>
            </a:r>
          </a:p>
          <a:p>
            <a:r>
              <a:rPr lang="hu-HU" dirty="0"/>
              <a:t>Biztonságos REST API</a:t>
            </a:r>
          </a:p>
          <a:p>
            <a:pPr lvl="1"/>
            <a:r>
              <a:rPr lang="hu-HU" dirty="0" err="1"/>
              <a:t>Token</a:t>
            </a:r>
            <a:r>
              <a:rPr lang="hu-HU" dirty="0"/>
              <a:t> alapú hitelesítés, szerepkörökhöz kötött hozzáférés </a:t>
            </a:r>
          </a:p>
          <a:p>
            <a:r>
              <a:rPr lang="hu-HU" dirty="0"/>
              <a:t>Skálázható adatkezelés</a:t>
            </a:r>
          </a:p>
          <a:p>
            <a:pPr lvl="1"/>
            <a:r>
              <a:rPr lang="hu-HU" dirty="0"/>
              <a:t>EFC használatával adatbázis kezelés, SQL alapú felhős adattárolás</a:t>
            </a:r>
          </a:p>
        </p:txBody>
      </p:sp>
    </p:spTree>
    <p:extLst>
      <p:ext uri="{BB962C8B-B14F-4D97-AF65-F5344CB8AC3E}">
        <p14:creationId xmlns:p14="http://schemas.microsoft.com/office/powerpoint/2010/main" val="16856170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79403D0-C1D5-2E72-2D3F-1B14925AE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Webes 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42FC6B7-5440-F8F0-EE16-D7A69D25A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React és Tailwind CSS</a:t>
            </a:r>
          </a:p>
          <a:p>
            <a:pPr lvl="1"/>
            <a:r>
              <a:rPr lang="hu-HU" dirty="0"/>
              <a:t>Modern JS technológiára épült, így gyors, dinamikus, és könnyen </a:t>
            </a:r>
            <a:r>
              <a:rPr lang="hu-HU" dirty="0" err="1"/>
              <a:t>testreszabható</a:t>
            </a:r>
            <a:endParaRPr lang="hu-HU" dirty="0"/>
          </a:p>
          <a:p>
            <a:r>
              <a:rPr lang="hu-HU" dirty="0"/>
              <a:t>Reszponzív kialakítás</a:t>
            </a:r>
          </a:p>
          <a:p>
            <a:pPr lvl="1"/>
            <a:r>
              <a:rPr lang="hu-HU" dirty="0"/>
              <a:t>Telefon / Táblagép / Asztali géphez igazodik</a:t>
            </a:r>
          </a:p>
          <a:p>
            <a:r>
              <a:rPr lang="hu-HU" dirty="0"/>
              <a:t>Kiemelkedő felhasználói élmény</a:t>
            </a:r>
          </a:p>
          <a:p>
            <a:pPr lvl="1"/>
            <a:r>
              <a:rPr lang="hu-HU" dirty="0"/>
              <a:t>Egyszerű navigáció, esztétikus design</a:t>
            </a:r>
          </a:p>
        </p:txBody>
      </p:sp>
    </p:spTree>
    <p:extLst>
      <p:ext uri="{BB962C8B-B14F-4D97-AF65-F5344CB8AC3E}">
        <p14:creationId xmlns:p14="http://schemas.microsoft.com/office/powerpoint/2010/main" val="33731146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C75F32-8F9A-C750-33A2-3C843C393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WPF asztali alkalmazás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71CA65D-7E83-EA20-00FF-A51A297CBA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smtClean="0"/>
              <a:t>Egyszerű </a:t>
            </a:r>
            <a:r>
              <a:rPr lang="hu-HU" dirty="0"/>
              <a:t>kezelőfelület</a:t>
            </a:r>
          </a:p>
          <a:p>
            <a:pPr lvl="1"/>
            <a:r>
              <a:rPr lang="hu-HU" dirty="0"/>
              <a:t>Nagy méretű, elrendezett, egyszerű navigáció</a:t>
            </a:r>
          </a:p>
          <a:p>
            <a:r>
              <a:rPr lang="hu-HU" dirty="0"/>
              <a:t>Gyors válaszidő</a:t>
            </a:r>
          </a:p>
          <a:p>
            <a:pPr lvl="1"/>
            <a:r>
              <a:rPr lang="hu-HU" dirty="0"/>
              <a:t>Interakciók gyorsan reagálnak</a:t>
            </a:r>
          </a:p>
          <a:p>
            <a:r>
              <a:rPr lang="hu-HU" dirty="0"/>
              <a:t>Egységes vizuális megjelenés</a:t>
            </a:r>
          </a:p>
          <a:p>
            <a:pPr lvl="1"/>
            <a:r>
              <a:rPr lang="hu-HU" dirty="0"/>
              <a:t>Az alkalmazás teljes egészében egységes designt kapott, így ugyanaz a felület fogad minket a </a:t>
            </a:r>
            <a:r>
              <a:rPr lang="hu-HU" dirty="0" smtClean="0"/>
              <a:t>különböző </a:t>
            </a:r>
            <a:r>
              <a:rPr lang="hu-HU" dirty="0" err="1" smtClean="0"/>
              <a:t>funckiók</a:t>
            </a:r>
            <a:r>
              <a:rPr lang="hu-HU" dirty="0" smtClean="0"/>
              <a:t> használatakor.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8658414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16689B4-473A-1196-5530-4D2D89083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 architektúra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CE2B9D-D9A9-0896-7F1D-0F749ADDB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Relációs modell SQL alapon</a:t>
            </a:r>
          </a:p>
          <a:p>
            <a:pPr lvl="1"/>
            <a:r>
              <a:rPr lang="hu-HU" dirty="0"/>
              <a:t>A rendszer relációs adatbázist használ, logikus táblastruktúrákkal</a:t>
            </a:r>
          </a:p>
          <a:p>
            <a:r>
              <a:rPr lang="hu-HU" dirty="0"/>
              <a:t>Entity Framework Core ORM</a:t>
            </a:r>
          </a:p>
          <a:p>
            <a:pPr lvl="1"/>
            <a:r>
              <a:rPr lang="hu-HU" dirty="0"/>
              <a:t>Egyszerűsíti a lekérdezéseket, biztosítja a migrációkat</a:t>
            </a:r>
          </a:p>
          <a:p>
            <a:r>
              <a:rPr lang="hu-HU" dirty="0"/>
              <a:t>Adatintegritás és normalizálás</a:t>
            </a:r>
          </a:p>
          <a:p>
            <a:pPr lvl="1"/>
            <a:r>
              <a:rPr lang="hu-HU" dirty="0"/>
              <a:t>Külső kulcsok, egyedi indexek, normalizált szerkezet garantálja a konzisztens adattárolást</a:t>
            </a:r>
          </a:p>
        </p:txBody>
      </p:sp>
    </p:spTree>
    <p:extLst>
      <p:ext uri="{BB962C8B-B14F-4D97-AF65-F5344CB8AC3E}">
        <p14:creationId xmlns:p14="http://schemas.microsoft.com/office/powerpoint/2010/main" val="33184899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8041904-D488-C8BF-733A-8358B5180C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2996" y="1896804"/>
            <a:ext cx="8791575" cy="2387600"/>
          </a:xfrm>
        </p:spPr>
        <p:txBody>
          <a:bodyPr/>
          <a:lstStyle/>
          <a:p>
            <a:pPr algn="ctr"/>
            <a:r>
              <a:rPr lang="hu-HU" dirty="0"/>
              <a:t>Főbb funkciók és kiemelkedő </a:t>
            </a:r>
            <a:r>
              <a:rPr lang="hu-HU" dirty="0" smtClean="0"/>
              <a:t>megoldások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106263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E073AB-CB97-41FB-CE2D-A2C78EF4B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000" dirty="0"/>
              <a:t>Backend</a:t>
            </a:r>
          </a:p>
        </p:txBody>
      </p:sp>
      <p:pic>
        <p:nvPicPr>
          <p:cNvPr id="8" name="Tartalom helye 7">
            <a:extLst>
              <a:ext uri="{FF2B5EF4-FFF2-40B4-BE49-F238E27FC236}">
                <a16:creationId xmlns:a16="http://schemas.microsoft.com/office/drawing/2014/main" id="{890D280B-FBFF-CED2-BB1F-AEC67ED4FC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56200" y="694935"/>
            <a:ext cx="5891213" cy="4993467"/>
          </a:xfrm>
          <a:prstGeom prst="rect">
            <a:avLst/>
          </a:prstGeom>
        </p:spPr>
      </p:pic>
      <p:sp>
        <p:nvSpPr>
          <p:cNvPr id="4" name="Szöveg helye 3">
            <a:extLst>
              <a:ext uri="{FF2B5EF4-FFF2-40B4-BE49-F238E27FC236}">
                <a16:creationId xmlns:a16="http://schemas.microsoft.com/office/drawing/2014/main" id="{B9BB9E9F-59DD-8B79-3FD4-0D602637983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hu-HU" sz="3200" dirty="0"/>
              <a:t>A tesztelés során ezen a felületen keresztül kezeltük és </a:t>
            </a:r>
            <a:r>
              <a:rPr lang="hu-HU" sz="3200" dirty="0" smtClean="0"/>
              <a:t>vizsgáltuk </a:t>
            </a:r>
            <a:r>
              <a:rPr lang="hu-HU" sz="3200" dirty="0"/>
              <a:t>az </a:t>
            </a:r>
            <a:r>
              <a:rPr lang="hu-HU" sz="3200" dirty="0" smtClean="0"/>
              <a:t>API-végpontokat.</a:t>
            </a:r>
            <a:endParaRPr lang="hu-HU" sz="3200" dirty="0"/>
          </a:p>
        </p:txBody>
      </p:sp>
    </p:spTree>
    <p:extLst>
      <p:ext uri="{BB962C8B-B14F-4D97-AF65-F5344CB8AC3E}">
        <p14:creationId xmlns:p14="http://schemas.microsoft.com/office/powerpoint/2010/main" val="40531038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A3C3635-AEFE-7C8D-F856-DD83880A1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400" dirty="0"/>
              <a:t>Asztali alkalmazás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BABCF112-AFE3-1AEC-59BE-FB4004E98FF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sz="2400" dirty="0"/>
              <a:t>A képen egy</a:t>
            </a:r>
            <a:r>
              <a:rPr lang="hu-HU" sz="2400" b="1" dirty="0"/>
              <a:t> admin bejelentkezési felület</a:t>
            </a:r>
            <a:r>
              <a:rPr lang="hu-HU" sz="2400" dirty="0"/>
              <a:t> látható. A célja, hogy egy adminisztrátor bejelentkezhessen a rendszerbe a felhasználóneve és jelszava megadásával. </a:t>
            </a:r>
          </a:p>
          <a:p>
            <a:endParaRPr lang="hu-HU" sz="2400" dirty="0"/>
          </a:p>
          <a:p>
            <a:r>
              <a:rPr lang="hu-HU" sz="2400" dirty="0"/>
              <a:t>A design letisztult és modern.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2A2188B-37C9-E289-5BD4-D42BE374AF0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200" y="1220174"/>
            <a:ext cx="5891213" cy="3942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3892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0142E14-3C7A-4E24-4628-AAB45076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400" dirty="0"/>
              <a:t>Asztali alkalmazás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B76DFF40-7374-783A-99AE-54B6548821D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hu-HU" sz="2400" dirty="0"/>
              <a:t>A képen az alkalmazás adminisztrációs felületének főmenüje / vezérlőpultja látható.</a:t>
            </a:r>
          </a:p>
          <a:p>
            <a:r>
              <a:rPr lang="hu-HU" sz="2400" dirty="0"/>
              <a:t>Innen tudjuk az alkalmazásunk fő funkcióit </a:t>
            </a:r>
            <a:r>
              <a:rPr lang="hu-HU" sz="2400" dirty="0" smtClean="0"/>
              <a:t>elérni.</a:t>
            </a:r>
            <a:endParaRPr lang="hu-HU" sz="2400" dirty="0"/>
          </a:p>
          <a:p>
            <a:endParaRPr lang="hu-HU" sz="28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7C3A16E-B837-B7FD-F001-3DF2FCE83FC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200" y="1532844"/>
            <a:ext cx="5891213" cy="331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69952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1A0EA8-5DE9-403F-E18C-A271C66ED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6705" y="57808"/>
            <a:ext cx="3856037" cy="1639884"/>
          </a:xfrm>
        </p:spPr>
        <p:txBody>
          <a:bodyPr>
            <a:noAutofit/>
          </a:bodyPr>
          <a:lstStyle/>
          <a:p>
            <a:r>
              <a:rPr lang="hu-HU" sz="4000" dirty="0"/>
              <a:t>Asztali alkalmazás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F9B945F-0D92-B348-4BFF-8312A01E04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5931" y="1639613"/>
            <a:ext cx="4056811" cy="4524703"/>
          </a:xfrm>
        </p:spPr>
        <p:txBody>
          <a:bodyPr>
            <a:normAutofit lnSpcReduction="10000"/>
          </a:bodyPr>
          <a:lstStyle/>
          <a:p>
            <a:r>
              <a:rPr lang="hu-HU" sz="2000" dirty="0"/>
              <a:t>Ez a felület a hotel szobáinak adminisztrációját mutatja. Látható egy táblázat a szobák részletes adataival: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2000" dirty="0" smtClean="0"/>
              <a:t> Szobaszám</a:t>
            </a:r>
            <a:r>
              <a:rPr lang="hu-HU" sz="2000" dirty="0"/>
              <a:t>, típus, kapacitás, ár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2000" dirty="0" smtClean="0"/>
              <a:t> Aktuális </a:t>
            </a:r>
            <a:r>
              <a:rPr lang="hu-HU" sz="2000" dirty="0"/>
              <a:t>állapot (pl. foglalt, szabad, takarítás alatt)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2000" dirty="0" smtClean="0"/>
              <a:t> Emelet</a:t>
            </a:r>
            <a:r>
              <a:rPr lang="hu-HU" sz="2000" dirty="0"/>
              <a:t>, hozzáadás dátuma és leírás</a:t>
            </a:r>
          </a:p>
          <a:p>
            <a:r>
              <a:rPr lang="hu-HU" sz="2000" dirty="0"/>
              <a:t>A felületen lehetőség van új szoba rögzítésére, meglévők szerkesztésére, törlésére és a lista frissítésére.</a:t>
            </a:r>
          </a:p>
          <a:p>
            <a:endParaRPr lang="hu-HU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83AAA7B1-38AF-852C-95CB-002ACA87FC4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200" y="1540042"/>
            <a:ext cx="5891213" cy="3303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97797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6D7656-C59A-B00F-236B-694BB9D2B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650" y="176049"/>
            <a:ext cx="3856037" cy="1639884"/>
          </a:xfrm>
        </p:spPr>
        <p:txBody>
          <a:bodyPr>
            <a:normAutofit/>
          </a:bodyPr>
          <a:lstStyle/>
          <a:p>
            <a:r>
              <a:rPr lang="hu-HU" sz="4400" dirty="0"/>
              <a:t>Asztali alkalmazás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C8C05D2-35F2-848E-474D-EF7698F7E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6705" y="1815933"/>
            <a:ext cx="4891488" cy="3975267"/>
          </a:xfrm>
        </p:spPr>
        <p:txBody>
          <a:bodyPr>
            <a:noAutofit/>
          </a:bodyPr>
          <a:lstStyle/>
          <a:p>
            <a:pPr>
              <a:spcAft>
                <a:spcPts val="1200"/>
              </a:spcAft>
            </a:pPr>
            <a:r>
              <a:rPr lang="hu-HU" sz="2400" dirty="0" smtClean="0"/>
              <a:t>1</a:t>
            </a:r>
            <a:r>
              <a:rPr lang="hu-HU" sz="2400" dirty="0"/>
              <a:t>.</a:t>
            </a:r>
            <a:r>
              <a:rPr lang="hu-HU" sz="2400" dirty="0" smtClean="0"/>
              <a:t> Ezen </a:t>
            </a:r>
            <a:r>
              <a:rPr lang="hu-HU" sz="2400" dirty="0"/>
              <a:t>a felületen tudjuk mint a szoba, mint a program foglalásokat </a:t>
            </a:r>
            <a:r>
              <a:rPr lang="hu-HU" sz="2400" dirty="0" smtClean="0"/>
              <a:t>kezelni</a:t>
            </a:r>
            <a:endParaRPr lang="hu-HU" sz="2400" dirty="0"/>
          </a:p>
          <a:p>
            <a:pPr>
              <a:spcAft>
                <a:spcPts val="1200"/>
              </a:spcAft>
            </a:pPr>
            <a:r>
              <a:rPr lang="hu-HU" sz="2400" dirty="0" smtClean="0"/>
              <a:t>2. </a:t>
            </a:r>
            <a:r>
              <a:rPr lang="hu-HU" sz="2400" dirty="0"/>
              <a:t>Szobafoglalások </a:t>
            </a:r>
            <a:r>
              <a:rPr lang="hu-HU" sz="2400" dirty="0" smtClean="0"/>
              <a:t>kezelése</a:t>
            </a:r>
          </a:p>
          <a:p>
            <a:pPr>
              <a:spcAft>
                <a:spcPts val="1200"/>
              </a:spcAft>
            </a:pPr>
            <a:endParaRPr lang="hu-HU" sz="2400" dirty="0"/>
          </a:p>
          <a:p>
            <a:r>
              <a:rPr lang="hu-HU" sz="2400" dirty="0" smtClean="0"/>
              <a:t>3. </a:t>
            </a:r>
            <a:r>
              <a:rPr lang="hu-HU" sz="2400" dirty="0"/>
              <a:t>Programok kezelése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4C5A9A73-E0BD-FD2A-9BEF-DE48652D7EB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7268" y="674477"/>
            <a:ext cx="3727571" cy="2096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EC68690F-8C4F-45D8-D552-00BC7BBDF6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7268" y="2972329"/>
            <a:ext cx="3727996" cy="2096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>
            <a:extLst>
              <a:ext uri="{FF2B5EF4-FFF2-40B4-BE49-F238E27FC236}">
                <a16:creationId xmlns:a16="http://schemas.microsoft.com/office/drawing/2014/main" id="{A97C70BB-E08F-B865-39B3-F06BC96EF8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7268" y="4222166"/>
            <a:ext cx="3727998" cy="2096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02844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D997C8-19FE-F83C-8D79-9CEDD52A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6705" y="89339"/>
            <a:ext cx="3856037" cy="1639884"/>
          </a:xfrm>
        </p:spPr>
        <p:txBody>
          <a:bodyPr>
            <a:normAutofit/>
          </a:bodyPr>
          <a:lstStyle/>
          <a:p>
            <a:r>
              <a:rPr lang="hu-HU" sz="4400" dirty="0"/>
              <a:t>Asztali alkalmazás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6BCACFE-3BC6-5D35-FBB8-C457C5FC4E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56200" y="1535437"/>
            <a:ext cx="5891213" cy="3312464"/>
          </a:xfrm>
          <a:prstGeom prst="rect">
            <a:avLst/>
          </a:prstGeom>
        </p:spPr>
      </p:pic>
      <p:sp>
        <p:nvSpPr>
          <p:cNvPr id="4" name="Szöveg helye 3">
            <a:extLst>
              <a:ext uri="{FF2B5EF4-FFF2-40B4-BE49-F238E27FC236}">
                <a16:creationId xmlns:a16="http://schemas.microsoft.com/office/drawing/2014/main" id="{F1524AC7-29AF-7003-E7CB-0C8A3422C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6705" y="1729223"/>
            <a:ext cx="3856037" cy="4061977"/>
          </a:xfrm>
        </p:spPr>
        <p:txBody>
          <a:bodyPr>
            <a:normAutofit fontScale="92500"/>
          </a:bodyPr>
          <a:lstStyle/>
          <a:p>
            <a:r>
              <a:rPr lang="hu-HU" sz="2400" dirty="0"/>
              <a:t>Ezen a felületen a szállodánk alkalmazottjait tudjuk kezelni</a:t>
            </a:r>
          </a:p>
          <a:p>
            <a:endParaRPr lang="hu-HU" sz="2400" dirty="0"/>
          </a:p>
          <a:p>
            <a:r>
              <a:rPr lang="hu-HU" sz="2400" dirty="0"/>
              <a:t>-Frissíteni</a:t>
            </a:r>
          </a:p>
          <a:p>
            <a:r>
              <a:rPr lang="hu-HU" sz="2400" dirty="0"/>
              <a:t>-Új dolgozót felvenni</a:t>
            </a:r>
          </a:p>
          <a:p>
            <a:r>
              <a:rPr lang="hu-HU" sz="2400" dirty="0"/>
              <a:t>-Dolgozó adatait megváltoztatni</a:t>
            </a:r>
          </a:p>
          <a:p>
            <a:r>
              <a:rPr lang="hu-HU" sz="2400" dirty="0"/>
              <a:t>-Dolgozót törölni / elbocsájtani</a:t>
            </a:r>
          </a:p>
          <a:p>
            <a:endParaRPr lang="hu-HU" sz="2000" dirty="0"/>
          </a:p>
        </p:txBody>
      </p:sp>
    </p:spTree>
    <p:extLst>
      <p:ext uri="{BB962C8B-B14F-4D97-AF65-F5344CB8AC3E}">
        <p14:creationId xmlns:p14="http://schemas.microsoft.com/office/powerpoint/2010/main" val="28337773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6098D69-8835-FA66-ED63-04E964627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800" dirty="0"/>
              <a:t>Webes felület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BDF47762-D312-FA9F-6FF5-B8F8AB7BDD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9449" y="2249486"/>
            <a:ext cx="4293294" cy="3541714"/>
          </a:xfrm>
        </p:spPr>
        <p:txBody>
          <a:bodyPr>
            <a:normAutofit/>
          </a:bodyPr>
          <a:lstStyle/>
          <a:p>
            <a:r>
              <a:rPr lang="hu-HU" sz="2400" dirty="0"/>
              <a:t>Oldalunk főoldala csekély betekintést mutat a szállodánk:</a:t>
            </a:r>
          </a:p>
          <a:p>
            <a:r>
              <a:rPr lang="hu-HU" sz="2400" dirty="0" smtClean="0"/>
              <a:t>- szolgáltatásaiba,</a:t>
            </a:r>
            <a:endParaRPr lang="hu-HU" sz="2400" dirty="0"/>
          </a:p>
          <a:p>
            <a:r>
              <a:rPr lang="hu-HU" sz="2400" dirty="0" smtClean="0"/>
              <a:t>- szobáiba,</a:t>
            </a:r>
            <a:endParaRPr lang="hu-HU" sz="2400" dirty="0"/>
          </a:p>
          <a:p>
            <a:r>
              <a:rPr lang="hu-HU" sz="2400" dirty="0" smtClean="0"/>
              <a:t>- programjaiba,</a:t>
            </a:r>
            <a:endParaRPr lang="hu-HU" sz="2400" dirty="0"/>
          </a:p>
          <a:p>
            <a:r>
              <a:rPr lang="hu-HU" sz="2400" dirty="0" smtClean="0"/>
              <a:t>- vendégek véleményébe.</a:t>
            </a:r>
            <a:endParaRPr lang="hu-HU" sz="2400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A058CFD-61B1-F6B0-EE55-16DA93E7555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6795" y="1434662"/>
            <a:ext cx="6821977" cy="3539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29971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B7454F1-C8BC-A8C0-EF4F-5A4927FF3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800" dirty="0"/>
              <a:t>Webes felület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EA88F2C-DF60-9C5A-45F0-B05C89458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19808" y="2249486"/>
            <a:ext cx="4114800" cy="3757176"/>
          </a:xfrm>
        </p:spPr>
        <p:txBody>
          <a:bodyPr>
            <a:normAutofit/>
          </a:bodyPr>
          <a:lstStyle/>
          <a:p>
            <a:r>
              <a:rPr lang="hu-HU" sz="2400" dirty="0"/>
              <a:t>A </a:t>
            </a:r>
            <a:r>
              <a:rPr lang="hu-HU" sz="2400" b="1" i="1" dirty="0"/>
              <a:t>Szobák</a:t>
            </a:r>
            <a:r>
              <a:rPr lang="hu-HU" sz="2400" dirty="0"/>
              <a:t> oldalon a vendégek megtekinthetik az elérhető szobákat, és igényeik szerint különböző szűrési lehetőségekkel könnyedén megtalálhatják a számukra </a:t>
            </a:r>
            <a:r>
              <a:rPr lang="hu-HU" sz="2400" dirty="0" smtClean="0"/>
              <a:t>legmegfelelőbbet.</a:t>
            </a:r>
            <a:endParaRPr lang="hu-HU" sz="2400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0CDF4711-D1AF-9C4E-1600-7D0BE21F49A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8508" y="1198179"/>
            <a:ext cx="6768174" cy="3529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56899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60AD1A-5FBB-C498-0E75-B91265F69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800" dirty="0"/>
              <a:t>Webes felület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3A2DD66-205A-1848-CB15-685B1E76BED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hu-HU" sz="2800" dirty="0"/>
              <a:t>A </a:t>
            </a:r>
            <a:r>
              <a:rPr lang="hu-HU" sz="2800" b="1" i="1" dirty="0"/>
              <a:t>Szolgáltatások</a:t>
            </a:r>
            <a:r>
              <a:rPr lang="hu-HU" sz="2800" dirty="0"/>
              <a:t> oldalon a látogatók részletesen megismerhetik szállodánk által kínált szolgáltatásokat és </a:t>
            </a:r>
            <a:r>
              <a:rPr lang="hu-HU" sz="2800" dirty="0" smtClean="0"/>
              <a:t>lehetőségeket.</a:t>
            </a:r>
            <a:endParaRPr lang="hu-HU" sz="2800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6C2FED1E-8165-D3E4-6FEC-6F53CB32E15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200" y="1363718"/>
            <a:ext cx="6468637" cy="3356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22441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FBB2870-9681-8759-97E0-8852D9CCA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800" dirty="0"/>
              <a:t>Webes felület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B2043FF-E763-AEC8-7C46-782FCB83AA8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hu-HU" sz="2800" dirty="0"/>
              <a:t>A </a:t>
            </a:r>
            <a:r>
              <a:rPr lang="hu-HU" sz="2800" b="1" i="1" dirty="0"/>
              <a:t>Programok</a:t>
            </a:r>
            <a:r>
              <a:rPr lang="hu-HU" sz="2800" dirty="0"/>
              <a:t> oldalon vendégeink gyermekeknek és felnőtteknek egyaránt szóló, változatos programlehetőségek közül </a:t>
            </a:r>
            <a:r>
              <a:rPr lang="hu-HU" sz="2800" dirty="0" smtClean="0"/>
              <a:t>foglalhatnak.</a:t>
            </a:r>
            <a:endParaRPr lang="hu-HU" sz="2800" dirty="0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9E4C1238-9537-00F6-7C80-431C90CA184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200" y="1379483"/>
            <a:ext cx="6427552" cy="3345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50878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EDD1CB-43AD-92AA-6E7A-DF27388B5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800" dirty="0"/>
              <a:t>Webes felület</a:t>
            </a:r>
          </a:p>
        </p:txBody>
      </p:sp>
      <p:pic>
        <p:nvPicPr>
          <p:cNvPr id="6" name="Tartalom helye 5">
            <a:extLst>
              <a:ext uri="{FF2B5EF4-FFF2-40B4-BE49-F238E27FC236}">
                <a16:creationId xmlns:a16="http://schemas.microsoft.com/office/drawing/2014/main" id="{9497F485-6C6F-F721-D507-E43095826B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56200" y="1489841"/>
            <a:ext cx="6376277" cy="3163034"/>
          </a:xfrm>
        </p:spPr>
      </p:pic>
      <p:sp>
        <p:nvSpPr>
          <p:cNvPr id="4" name="Szöveg helye 3">
            <a:extLst>
              <a:ext uri="{FF2B5EF4-FFF2-40B4-BE49-F238E27FC236}">
                <a16:creationId xmlns:a16="http://schemas.microsoft.com/office/drawing/2014/main" id="{A72A1313-1236-6326-DB1A-00C0974D867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hu-HU" sz="2400" dirty="0"/>
              <a:t>A </a:t>
            </a:r>
            <a:r>
              <a:rPr lang="hu-HU" sz="2400" b="1" i="1" dirty="0"/>
              <a:t>Rólunk</a:t>
            </a:r>
            <a:r>
              <a:rPr lang="hu-HU" sz="2400" dirty="0"/>
              <a:t> oldalon a vendégek minden fontos információt megtalálnak szállodánkról, beleértve az elérhetőségeinket, megközelítési lehetőségeket és egyéb hasznos tudnivalókat.</a:t>
            </a:r>
          </a:p>
        </p:txBody>
      </p:sp>
    </p:spTree>
    <p:extLst>
      <p:ext uri="{BB962C8B-B14F-4D97-AF65-F5344CB8AC3E}">
        <p14:creationId xmlns:p14="http://schemas.microsoft.com/office/powerpoint/2010/main" val="9996154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2174A4-1C1A-6409-C6AF-794B815F6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800" dirty="0"/>
              <a:t>Webes felület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8B09527D-96B4-67A9-8548-DE13766EF1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77463" y="2249486"/>
            <a:ext cx="4025280" cy="3541714"/>
          </a:xfrm>
        </p:spPr>
        <p:txBody>
          <a:bodyPr>
            <a:normAutofit/>
          </a:bodyPr>
          <a:lstStyle/>
          <a:p>
            <a:r>
              <a:rPr lang="hu-HU" sz="2400" dirty="0"/>
              <a:t>A </a:t>
            </a:r>
            <a:r>
              <a:rPr lang="hu-HU" sz="2400" b="1" i="1" dirty="0"/>
              <a:t>Profilom</a:t>
            </a:r>
            <a:r>
              <a:rPr lang="hu-HU" sz="2400" dirty="0"/>
              <a:t> oldalon a felhasználók megtekinthetik, módosíthatják vagy törölhetik fiókjukkal kapcsolatos adataikat, beállításaikat és egyéb személyes </a:t>
            </a:r>
            <a:r>
              <a:rPr lang="hu-HU" sz="2400" dirty="0" err="1" smtClean="0"/>
              <a:t>információikat</a:t>
            </a:r>
            <a:r>
              <a:rPr lang="hu-HU" sz="2400" dirty="0" smtClean="0"/>
              <a:t>.</a:t>
            </a:r>
            <a:endParaRPr lang="hu-HU" sz="2400" dirty="0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3C62E6DF-99C5-C7CF-E438-56858CF269D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6200" y="1426779"/>
            <a:ext cx="6326496" cy="3302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36276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BB6C93-4DFF-870F-CB2C-FF4069948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0212" y="2235200"/>
            <a:ext cx="8791575" cy="2387600"/>
          </a:xfrm>
        </p:spPr>
        <p:txBody>
          <a:bodyPr/>
          <a:lstStyle/>
          <a:p>
            <a:pPr algn="ctr"/>
            <a:r>
              <a:rPr lang="hu-HU" dirty="0"/>
              <a:t>A programunknak vannak kiemelendő funkciói </a:t>
            </a:r>
            <a:br>
              <a:rPr lang="hu-HU" dirty="0"/>
            </a:b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638770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91A6FC-B8F0-A377-49D0-1C42A8D0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dirty="0"/>
              <a:t>Különleges funkciók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B4B26037-AEC3-2CC4-DF72-C5997B2FFAC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r>
              <a:rPr lang="hu-HU" sz="2800" dirty="0"/>
              <a:t>A foglalás megerősítése e-mailben történik – a rendszer visszaigazoló üzenetet küld, amelyben megerősítjük, hogy a </a:t>
            </a:r>
            <a:r>
              <a:rPr lang="hu-HU" sz="2800" dirty="0" smtClean="0"/>
              <a:t>foglalás </a:t>
            </a:r>
            <a:r>
              <a:rPr lang="hu-HU" sz="2800" dirty="0"/>
              <a:t>sikeresen </a:t>
            </a:r>
            <a:r>
              <a:rPr lang="hu-HU" sz="2800" dirty="0" smtClean="0"/>
              <a:t>megtörtént.</a:t>
            </a:r>
            <a:endParaRPr lang="hu-HU" sz="2800" dirty="0"/>
          </a:p>
        </p:txBody>
      </p:sp>
      <p:pic>
        <p:nvPicPr>
          <p:cNvPr id="14338" name="Picture 2">
            <a:extLst>
              <a:ext uri="{FF2B5EF4-FFF2-40B4-BE49-F238E27FC236}">
                <a16:creationId xmlns:a16="http://schemas.microsoft.com/office/drawing/2014/main" id="{77DB65A8-DEA5-37F0-7952-3CDE055CEA3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0310" y="592138"/>
            <a:ext cx="3562993" cy="5199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8942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B3D8E92-15B8-5699-3606-05585131F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Különleges </a:t>
            </a:r>
            <a:r>
              <a:rPr lang="hu-HU" sz="4000" dirty="0"/>
              <a:t>funkciók</a:t>
            </a:r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1801A71-1F92-6BF1-B04F-697044011D4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hu-HU" sz="3200" dirty="0"/>
              <a:t>Az e-mailben egy PDF fájlt is csatolunk, amely tartalmazza a </a:t>
            </a:r>
            <a:r>
              <a:rPr lang="hu-HU" sz="3200" dirty="0" smtClean="0"/>
              <a:t>foglalás </a:t>
            </a:r>
            <a:r>
              <a:rPr lang="hu-HU" sz="3200" dirty="0"/>
              <a:t>összes fontos adatát és </a:t>
            </a:r>
            <a:r>
              <a:rPr lang="hu-HU" sz="3200" dirty="0" smtClean="0"/>
              <a:t>részletét.</a:t>
            </a:r>
            <a:endParaRPr lang="hu-HU" sz="3200" dirty="0"/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3D03E1DC-CB4C-05DB-E1A8-CE394025E26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291" y="592138"/>
            <a:ext cx="3667030" cy="5199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28694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CD6ADC-1332-81A3-9974-A2795CBEE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Jövőbeli fejlesztések	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66E4A5-814D-5A98-C7EE-15FE4D308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2800" dirty="0"/>
              <a:t> </a:t>
            </a:r>
            <a:r>
              <a:rPr lang="hu-HU" sz="2800" dirty="0" smtClean="0"/>
              <a:t>Valós </a:t>
            </a:r>
            <a:r>
              <a:rPr lang="hu-HU" sz="2800" dirty="0"/>
              <a:t>fizetés</a:t>
            </a:r>
          </a:p>
          <a:p>
            <a:r>
              <a:rPr lang="hu-HU" sz="2800" dirty="0"/>
              <a:t> </a:t>
            </a:r>
            <a:r>
              <a:rPr lang="hu-HU" sz="2800" dirty="0" smtClean="0"/>
              <a:t>Profilfelület </a:t>
            </a:r>
            <a:r>
              <a:rPr lang="hu-HU" sz="2800" dirty="0"/>
              <a:t>továbbfejlesztése</a:t>
            </a:r>
          </a:p>
          <a:p>
            <a:r>
              <a:rPr lang="hu-HU" sz="2800" dirty="0"/>
              <a:t> </a:t>
            </a:r>
            <a:r>
              <a:rPr lang="hu-HU" sz="2800" dirty="0" smtClean="0"/>
              <a:t>Értesítések </a:t>
            </a:r>
            <a:r>
              <a:rPr lang="hu-HU" sz="2800" dirty="0"/>
              <a:t>kezelése</a:t>
            </a:r>
          </a:p>
          <a:p>
            <a:r>
              <a:rPr lang="hu-HU" sz="2800" dirty="0"/>
              <a:t> </a:t>
            </a:r>
            <a:r>
              <a:rPr lang="hu-HU" sz="2800" dirty="0" smtClean="0"/>
              <a:t>M</a:t>
            </a:r>
            <a:r>
              <a:rPr lang="hu-HU" sz="2800" dirty="0" smtClean="0"/>
              <a:t>obilapplikáció </a:t>
            </a:r>
            <a:r>
              <a:rPr lang="hu-HU" sz="2800" dirty="0"/>
              <a:t>kifejlesztése</a:t>
            </a:r>
          </a:p>
        </p:txBody>
      </p:sp>
    </p:spTree>
    <p:extLst>
      <p:ext uri="{BB962C8B-B14F-4D97-AF65-F5344CB8AC3E}">
        <p14:creationId xmlns:p14="http://schemas.microsoft.com/office/powerpoint/2010/main" val="36568844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2465711-FA8F-D0BE-806D-5BDF2AA38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689715"/>
            <a:ext cx="9905998" cy="1478570"/>
          </a:xfrm>
        </p:spPr>
        <p:txBody>
          <a:bodyPr>
            <a:normAutofit/>
          </a:bodyPr>
          <a:lstStyle/>
          <a:p>
            <a:pPr algn="ctr"/>
            <a:r>
              <a:rPr lang="hu-HU" sz="5400" dirty="0"/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29072540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xmlns="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Áramkör">
  <a:themeElements>
    <a:clrScheme name="Áramkör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Áramkör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Áramkör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TM04033919[[fn=Áramkör]]</Template>
  <TotalTime>172</TotalTime>
  <Words>634</Words>
  <Application>Microsoft Office PowerPoint</Application>
  <PresentationFormat>Szélesvásznú</PresentationFormat>
  <Paragraphs>100</Paragraphs>
  <Slides>25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25</vt:i4>
      </vt:variant>
    </vt:vector>
  </HeadingPairs>
  <TitlesOfParts>
    <vt:vector size="29" baseType="lpstr">
      <vt:lpstr>Arial</vt:lpstr>
      <vt:lpstr>Trebuchet MS</vt:lpstr>
      <vt:lpstr>Tw Cen MT</vt:lpstr>
      <vt:lpstr>Áramkör</vt:lpstr>
      <vt:lpstr>HMZ-rt Foglalj okosan, kezelj könnyedén</vt:lpstr>
      <vt:lpstr>Projekt célja / motiváció</vt:lpstr>
      <vt:lpstr>Rendszer Felépítése és Architektúrája</vt:lpstr>
      <vt:lpstr>Backend C# és ASP.NET Core alapokon</vt:lpstr>
      <vt:lpstr>Webes frontend</vt:lpstr>
      <vt:lpstr>WPF asztali alkalmazás</vt:lpstr>
      <vt:lpstr>Adatbázis architektúra</vt:lpstr>
      <vt:lpstr>Főbb funkciók és kiemelkedő megoldások</vt:lpstr>
      <vt:lpstr>Backend</vt:lpstr>
      <vt:lpstr>Asztali alkalmazás</vt:lpstr>
      <vt:lpstr>Asztali alkalmazás</vt:lpstr>
      <vt:lpstr>Asztali alkalmazás</vt:lpstr>
      <vt:lpstr>Asztali alkalmazás</vt:lpstr>
      <vt:lpstr>Asztali alkalmazás</vt:lpstr>
      <vt:lpstr>Webes felület</vt:lpstr>
      <vt:lpstr>Webes felület</vt:lpstr>
      <vt:lpstr>Webes felület</vt:lpstr>
      <vt:lpstr>Webes felület</vt:lpstr>
      <vt:lpstr>Webes felület</vt:lpstr>
      <vt:lpstr>Webes felület</vt:lpstr>
      <vt:lpstr>A programunknak vannak kiemelendő funkciói  </vt:lpstr>
      <vt:lpstr>Különleges funkciók</vt:lpstr>
      <vt:lpstr>Különleges funkciók</vt:lpstr>
      <vt:lpstr>Jövőbeli fejlesztések 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HMZ-rt Foglalj okosan, kezelj könnyedén</dc:title>
  <dc:creator>Zalán Zelenák</dc:creator>
  <cp:lastModifiedBy>User</cp:lastModifiedBy>
  <cp:revision>19</cp:revision>
  <dcterms:created xsi:type="dcterms:W3CDTF">2025-05-22T14:11:16Z</dcterms:created>
  <dcterms:modified xsi:type="dcterms:W3CDTF">2025-05-22T18:32:33Z</dcterms:modified>
</cp:coreProperties>
</file>